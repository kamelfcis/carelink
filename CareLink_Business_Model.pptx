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017520"/>
            <a:ext cx="12191695" cy="54864"/>
          </a:xfrm>
          <a:prstGeom prst="round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09"/>
              </a:lnSpc>
              <a:spcAft>
                <a:spcPts val="0"/>
              </a:spcAft>
              <a:defRPr sz="5400" b="1">
                <a:solidFill>
                  <a:srgbClr val="FFFFFF"/>
                </a:solidFill>
                <a:latin typeface="Calibri Light"/>
              </a:defRPr>
            </a:pPr>
            <a:r>
              <a:t>CareLink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79"/>
              </a:lnSpc>
              <a:spcAft>
                <a:spcPts val="0"/>
              </a:spcAft>
              <a:defRPr sz="3200" b="0">
                <a:solidFill>
                  <a:srgbClr val="BBDEFB"/>
                </a:solidFill>
                <a:latin typeface="Calibri Light"/>
              </a:defRPr>
            </a:pPr>
            <a:r>
              <a:t>Business Model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0"/>
              </a:spcAft>
              <a:defRPr sz="1600" b="0">
                <a:solidFill>
                  <a:srgbClr val="90CAF9"/>
                </a:solidFill>
                <a:latin typeface="Calibri"/>
              </a:defRPr>
            </a:pPr>
            <a:r>
              <a:t>A Mobile Healthcare Platform Connecting Patients &amp; Doctors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787878"/>
                </a:solidFill>
                <a:latin typeface="Calibri"/>
              </a:defRPr>
            </a:pPr>
            <a:r>
              <a:t>Graduation Project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C62828"/>
                </a:solidFill>
                <a:latin typeface="Calibri Light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3657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508760"/>
            <a:ext cx="411480" cy="411480"/>
          </a:xfrm>
          <a:prstGeom prst="ellipse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C62828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63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Scattered Medical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555555"/>
                </a:solidFill>
                <a:latin typeface="Calibri"/>
              </a:defRPr>
            </a:pPr>
            <a:r>
              <a:t>Patients keep paper files, CDs, and screenshots across multiple hospitals with no single source of truth.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06039"/>
            <a:ext cx="411480" cy="411480"/>
          </a:xfrm>
          <a:prstGeom prst="ellipse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2432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C62828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60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Slow Access to Patient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260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555555"/>
                </a:solidFill>
                <a:latin typeface="Calibri"/>
              </a:defRPr>
            </a:pPr>
            <a:r>
              <a:t>Doctors waste valuable time requesting and waiting for patient records from different providers.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03320"/>
            <a:ext cx="411480" cy="411480"/>
          </a:xfrm>
          <a:prstGeom prst="ellipse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21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C62828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57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No Portable Health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When visiting a new doctor, patients must recall their full medical history from memory.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188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C62828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54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Communication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555555"/>
                </a:solidFill>
                <a:latin typeface="Calibri"/>
              </a:defRPr>
            </a:pPr>
            <a:r>
              <a:t>Patients and doctors lack a direct, secure channel for follow-ups and record sharing.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146EB4"/>
                </a:solidFill>
                <a:latin typeface="Calibri Light"/>
              </a:defRPr>
            </a:pPr>
            <a:r>
              <a:t>Our Solution — 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743200" cy="36576"/>
          </a:xfrm>
          <a:prstGeom prst="round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38912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146EB4"/>
                </a:solidFill>
                <a:latin typeface="Calibri"/>
              </a:defRPr>
            </a:pPr>
            <a:r>
              <a:t>For Patients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Centralized digital health record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Track allergies, medications, chronic conditions,</a:t>
            </a:r>
            <a:br/>
            <a:r>
              <a:t>  vaccinations, surgeries &amp; lab tests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Browse &amp; connect with doctors by specialty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Share medical profile instantly via QR code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Secure cloud backup of all medical documents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No more carrying paper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3891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2E7D32"/>
                </a:solidFill>
                <a:latin typeface="Calibri"/>
              </a:defRPr>
            </a:pPr>
            <a:r>
              <a:t>For Doctors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Instant access to connected patients' records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View complete medical history at a glance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Add surgeries &amp; lab tests with file uploads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Direct patient contact (Phone / WhatsApp)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Specialty-based discoverability by patients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Reduce diagnostic errors with full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555555"/>
                </a:solidFill>
                <a:latin typeface="Calibri"/>
              </a:defRPr>
            </a:pPr>
            <a:r>
              <a:t>"Eliminating paper records • Reducing medical errors • Faster diagnosis with complete patient history"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6A1B9A"/>
                </a:solidFill>
                <a:latin typeface="Calibri Light"/>
              </a:defRPr>
            </a:pPr>
            <a:r>
              <a:t>Customer Segments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286000" cy="36576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6A1B9A"/>
                </a:solidFill>
                <a:latin typeface="Calibri"/>
              </a:defRPr>
            </a:pPr>
            <a:r>
              <a:t>Primary Segments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Patients seeking to digitize and</a:t>
            </a:r>
            <a:br/>
            <a:r>
              <a:t>manage their medical records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Doctors wanting quick access</a:t>
            </a:r>
            <a:br/>
            <a:r>
              <a:t>to patient history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Chronic disease patients needing</a:t>
            </a:r>
            <a:br/>
            <a:r>
              <a:t>ongoing health tracking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Elderly patients with caregivers</a:t>
            </a:r>
            <a:br/>
            <a:r>
              <a:t>managing their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146EB4"/>
                </a:solidFill>
                <a:latin typeface="Calibri"/>
              </a:defRPr>
            </a:pPr>
            <a:r>
              <a:t>Secondary Segments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Small clinics &amp; hospitals needing</a:t>
            </a:r>
            <a:br/>
            <a:r>
              <a:t>a lightweight EMR system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Medical students &amp; residents</a:t>
            </a:r>
            <a:br/>
            <a:r>
              <a:t>managing patient rotations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Family members coordinating</a:t>
            </a:r>
            <a:br/>
            <a:r>
              <a:t>care for dependents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E65C00"/>
                </a:solidFill>
                <a:latin typeface="Calibri"/>
              </a:defRPr>
            </a:pPr>
            <a:r>
              <a:t>Future Segments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Insurance companies</a:t>
            </a:r>
            <a:br/>
            <a:r>
              <a:t>(claims verification via records)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Medical laboratories</a:t>
            </a:r>
            <a:br/>
            <a:r>
              <a:t>(direct result upload integration)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Pharmacies</a:t>
            </a:r>
            <a:br/>
            <a:r>
              <a:t>(prescription management)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Telemedicine providers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2E7D32"/>
                </a:solidFill>
                <a:latin typeface="Calibri Light"/>
              </a:defRPr>
            </a:pPr>
            <a:r>
              <a:t>Revenue Streams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3657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57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2E7D32"/>
                </a:solidFill>
                <a:latin typeface="Calibri"/>
              </a:defRPr>
            </a:pPr>
            <a:r>
              <a:t>Freemium Model (Patients)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FREE Tier: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Basic medical record management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(allergies, meds, chronic conditions)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PREMIUM Tier: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Unlimited lab test storage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AI health insights (future)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Medication reminders &amp; alerts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Export medical report as PDF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Priority customer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71600"/>
            <a:ext cx="3383280" cy="4572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5087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146EB4"/>
                </a:solidFill>
                <a:latin typeface="Calibri"/>
              </a:defRPr>
            </a:pPr>
            <a:r>
              <a:t>Doctor Subscription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Monthly / Annual subscription plan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Advanced patient management dashboard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Analytics &amp; patient statistics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Verified doctor badge (trust signal)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Bulk lab test uploads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Priority listing in search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383280" cy="4572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5087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E65C00"/>
                </a:solidFill>
                <a:latin typeface="Calibri"/>
              </a:defRPr>
            </a:pPr>
            <a:r>
              <a:t>B2B / Enterprise &amp; Future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Clinic / Hospital dashboard license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(multi-doctor access, admin panel)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API access for lab integration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Future Revenue: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Commission on telemedicine visits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Sponsored doctor listings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Insurance partnership fees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Ethical in-app pharma ads (opt-in)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C62828"/>
                </a:solidFill>
                <a:latin typeface="Calibri Light"/>
              </a:defRPr>
            </a:pPr>
            <a:r>
              <a:t>Cost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3657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C62828"/>
                </a:solidFill>
                <a:latin typeface="Calibri"/>
              </a:defRPr>
            </a:pPr>
            <a:r>
              <a:t>Fixed Costs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Development team salaries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(Flutter, backend, UI/UX designers)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Supabase hosting &amp; storage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(PostgreSQL, Auth, Storage buckets)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App Store distribution fees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(Apple $99/yr, Google $25 one-time)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Domain name &amp; SSL certificates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Office &amp; tooling (IDE, CI/CD)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5087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E65C00"/>
                </a:solidFill>
                <a:latin typeface="Calibri"/>
              </a:defRPr>
            </a:pPr>
            <a:r>
              <a:t>Variable Costs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Cloud storage per GB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(lab tests, medical documents)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SMS / Email notification services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Customer support operations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Marketing &amp; user acquisition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(social media ads, campaigns)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Third-party API costs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(Google Sign-In, maps, etc.)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5087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6A1B9A"/>
                </a:solidFill>
                <a:latin typeface="Calibri"/>
              </a:defRPr>
            </a:pPr>
            <a:r>
              <a:t>Future Costs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AI/ML model training &amp; inference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(health insights, drug interactions)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Compliance &amp; certifications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(HIPAA, GDPR, local regulations)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Legal &amp; data protection counsel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Telemedicine infrastructure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  (video streaming, scheduling)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Scaling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00695C"/>
                </a:solidFill>
                <a:latin typeface="Calibri Light"/>
              </a:defRPr>
            </a:pPr>
            <a:r>
              <a:t>Channels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371600" cy="36576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3657600"/>
          </a:xfrm>
          <a:prstGeom prst="roundRect">
            <a:avLst>
              <a:gd name="adj" fmla="val 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00695C"/>
                </a:solidFill>
                <a:latin typeface="Calibri"/>
              </a:defRPr>
            </a:pPr>
            <a:r>
              <a:t>Distribution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Google Play Store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Apple App Store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Direct APK download (website)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2560320" cy="3657600"/>
          </a:xfrm>
          <a:prstGeom prst="roundRect">
            <a:avLst>
              <a:gd name="adj" fmla="val 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5087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00695C"/>
                </a:solidFill>
                <a:latin typeface="Calibri"/>
              </a:defRPr>
            </a:pPr>
            <a:r>
              <a:t>Marketing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Social media (Instagram, Facebook, TikTok, LinkedIn)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SEO &amp; content marketing (health blog)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Medical conferences &amp; health expos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2560320" cy="3657600"/>
          </a:xfrm>
          <a:prstGeom prst="roundRect">
            <a:avLst>
              <a:gd name="adj" fmla="val 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00695C"/>
                </a:solidFill>
                <a:latin typeface="Calibri"/>
              </a:defRPr>
            </a:pPr>
            <a:r>
              <a:t>Partnerships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Hospital &amp; clinic referral programs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University health center partnerships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Doctor word-of-mouth &amp; referrals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371600"/>
            <a:ext cx="2560320" cy="3657600"/>
          </a:xfrm>
          <a:prstGeom prst="roundRect">
            <a:avLst>
              <a:gd name="adj" fmla="val 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5087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00695C"/>
                </a:solidFill>
                <a:latin typeface="Calibri"/>
              </a:defRPr>
            </a:pPr>
            <a:r>
              <a:t>Community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Online health forums &amp; groups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Patient support communities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Doctor professional networks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1565C0"/>
                </a:solidFill>
                <a:latin typeface="Calibri Light"/>
              </a:defRPr>
            </a:pPr>
            <a:r>
              <a:t>Key Partners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36576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1565C0"/>
                </a:solidFill>
                <a:latin typeface="Calibri"/>
              </a:defRPr>
            </a:pPr>
            <a:r>
              <a:t>Healthcare Partners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Hospitals &amp; Clinics</a:t>
            </a:r>
            <a:br/>
            <a:r>
              <a:t>  (patient referrals, data sharing)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Medical Laboratories</a:t>
            </a:r>
            <a:br/>
            <a:r>
              <a:t>  (direct lab test result uploads)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Pharmacies</a:t>
            </a:r>
            <a:br/>
            <a:r>
              <a:t>  (medication cross-referencing)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3716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39" y="15087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1565C0"/>
                </a:solidFill>
                <a:latin typeface="Calibri"/>
              </a:defRPr>
            </a:pPr>
            <a:r>
              <a:t>Financial Partners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Insurance Companies</a:t>
            </a:r>
            <a:br/>
            <a:r>
              <a:t>  (claims verification via records)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Payment Processors</a:t>
            </a:r>
            <a:br/>
            <a:r>
              <a:t>  (subscription billing)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Investors &amp; Accelerators</a:t>
            </a:r>
            <a:br/>
            <a:r>
              <a:t>  (growth funding)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5087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1565C0"/>
                </a:solidFill>
                <a:latin typeface="Calibri"/>
              </a:defRPr>
            </a:pPr>
            <a:r>
              <a:t>Technology Partners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Supabase / Google Cloud</a:t>
            </a:r>
            <a:br/>
            <a:r>
              <a:t>  (infrastructure &amp; auth)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App Store / Google Play</a:t>
            </a:r>
            <a:br/>
            <a:r>
              <a:t>  (distribution channels)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AI/ML Providers</a:t>
            </a:r>
            <a:br/>
            <a:r>
              <a:t>  (future health analytics)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146EB4"/>
                </a:solidFill>
                <a:latin typeface="Calibri Light"/>
              </a:defRPr>
            </a:pPr>
            <a:r>
              <a:t>Key Activities &amp; Key Resources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200400" cy="36576"/>
          </a:xfrm>
          <a:prstGeom prst="round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146EB4"/>
                </a:solidFill>
                <a:latin typeface="Calibri"/>
              </a:defRPr>
            </a:pPr>
            <a:r>
              <a:t>Key Activities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Mobile app development &amp; maintenance (Flutter)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Doctor–Patient matching &amp; connection management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Electronic Medical Records (EMR) management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Secure cloud storage of lab tests &amp; documents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User authentication &amp; role-based access control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QR code-based medical info sharing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Customer support &amp; user onboarding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Continuous UI/UX improvement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Data privacy &amp; security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00695C"/>
                </a:solidFill>
                <a:latin typeface="Calibri"/>
              </a:defRPr>
            </a:pPr>
            <a:r>
              <a:t>Key Resources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Flutter mobile app (iOS &amp; Android)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Supabase backend (PostgreSQL + Auth + Storage)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Development team (Flutter, backend, UI/UX)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Doctor specialty database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Medical data models &amp; validation logic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Brand reputation &amp; user trust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Cloud infrastructure (hosting, CDN, storage)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Intellectual property (codebase, algorithms)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• User community &amp; feedback channels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6A1B9A"/>
                </a:solidFill>
                <a:latin typeface="Calibri Light"/>
              </a:defRPr>
            </a:pPr>
            <a:r>
              <a:t>Customer Relationships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743200" cy="36576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146EB4"/>
                </a:solidFill>
                <a:latin typeface="Calibri"/>
              </a:defRPr>
            </a:pPr>
            <a:r>
              <a:t>Self-Service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Patients independently manage their own medical records through the mobile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716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5544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146EB4"/>
                </a:solidFill>
                <a:latin typeface="Calibri"/>
              </a:defRPr>
            </a:pPr>
            <a:r>
              <a:t>Assisted Service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Doctors manage surgeries &amp; lab tests on behalf of their connected patients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5544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146EB4"/>
                </a:solidFill>
                <a:latin typeface="Calibri"/>
              </a:defRPr>
            </a:pPr>
            <a:r>
              <a:t>Automated Onboarding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Guided walkthrough screens introduce users to all features on first launch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146EB4"/>
                </a:solidFill>
                <a:latin typeface="Calibri"/>
              </a:defRPr>
            </a:pPr>
            <a:r>
              <a:t>Trust &amp; Security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Data privacy, encryption, and role-based access build user confidence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6576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8404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146EB4"/>
                </a:solidFill>
                <a:latin typeface="Calibri"/>
              </a:defRPr>
            </a:pPr>
            <a:r>
              <a:t>Push Notifications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Appointment reminders, medication alerts, and record updates (future)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6576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8404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146EB4"/>
                </a:solidFill>
                <a:latin typeface="Calibri"/>
              </a:defRPr>
            </a:pPr>
            <a:r>
              <a:t>In-App Support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Contact channels and help center for issue resolution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00695C"/>
                </a:solidFill>
                <a:latin typeface="Calibri Light"/>
              </a:defRPr>
            </a:pPr>
            <a:r>
              <a:t>Competitive Advantage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743200" cy="36576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35608"/>
            <a:ext cx="365760" cy="3657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Role-based dual experience — patient + doctor in one unified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075688"/>
            <a:ext cx="365760" cy="3657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848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031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QR code medical profile sharing — instant, works offline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715768"/>
            <a:ext cx="365760" cy="3657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24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7432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Lightweight — no heavy hospital IT integration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4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355848"/>
            <a:ext cx="365760" cy="3657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649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3832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Real-time cloud sync with Supabase — always up to 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3995928"/>
            <a:ext cx="365760" cy="3657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05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0233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Clean, modern Flutter UI — cross-platform (iOS &amp; Android)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7200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4636008"/>
            <a:ext cx="365760" cy="3657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45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663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Doctor specialty matching — patients find the right doctor fast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21208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5276088"/>
            <a:ext cx="365760" cy="3657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852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3035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Open to future AI integration — diagnosis assist, drug interaction alerts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85216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" y="5916168"/>
            <a:ext cx="365760" cy="3657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925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943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Low barrier to entry — free for basic usage, easy onboarding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450"/>
              </a:lnSpc>
              <a:spcAft>
                <a:spcPts val="0"/>
              </a:spcAft>
              <a:defRPr sz="3000" b="1">
                <a:solidFill>
                  <a:srgbClr val="1B2A4A"/>
                </a:solidFill>
                <a:latin typeface="Calibri Light"/>
              </a:defRPr>
            </a:pPr>
            <a:r>
              <a:t>Business Model Canvas —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2148840" cy="374904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2002536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2E7D32"/>
                </a:solidFill>
                <a:latin typeface="Calibri"/>
              </a:defRPr>
            </a:pPr>
            <a:r>
              <a:t>KEY PARTNERS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Hospitals &amp; Clinics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Medical Labs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Insurance Cos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Pharmacies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Google / Supabase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822960"/>
            <a:ext cx="2148840" cy="2377440"/>
          </a:xfrm>
          <a:prstGeom prst="roundRect">
            <a:avLst>
              <a:gd name="adj" fmla="val 3000"/>
            </a:avLst>
          </a:prstGeom>
          <a:solidFill>
            <a:srgbClr val="E3F2FD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70632" y="877824"/>
            <a:ext cx="2002536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146EB4"/>
                </a:solidFill>
                <a:latin typeface="Calibri"/>
              </a:defRPr>
            </a:pPr>
            <a:r>
              <a:t>KEY ACTIVITIES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App development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EMR management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Doctor-Patient matching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Cloud storage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QR code sharing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822960"/>
            <a:ext cx="2148840" cy="3749040"/>
          </a:xfrm>
          <a:prstGeom prst="roundRect">
            <a:avLst>
              <a:gd name="adj" fmla="val 3000"/>
            </a:avLst>
          </a:prstGeom>
          <a:solidFill>
            <a:srgbClr val="FFF9C4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10912" y="877824"/>
            <a:ext cx="2002536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E65C00"/>
                </a:solidFill>
                <a:latin typeface="Calibri"/>
              </a:defRPr>
            </a:pPr>
            <a:r>
              <a:t>VALUE PROPOSITION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Centralized EMR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Doctor discovery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QR profile sharing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Secure cloud docs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Eliminate paper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Reduce med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822960"/>
            <a:ext cx="2148840" cy="237744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51192" y="877824"/>
            <a:ext cx="2002536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6A1B9A"/>
                </a:solidFill>
                <a:latin typeface="Calibri"/>
              </a:defRPr>
            </a:pPr>
            <a:r>
              <a:t>CUSTOMER REL.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Self-service app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Assisted service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Guided onboarding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Push notifications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Trust &amp; 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822960"/>
            <a:ext cx="2148840" cy="3749040"/>
          </a:xfrm>
          <a:prstGeom prst="roundRect">
            <a:avLst>
              <a:gd name="adj" fmla="val 3000"/>
            </a:avLst>
          </a:prstGeom>
          <a:solidFill>
            <a:srgbClr val="FFEB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1472" y="877824"/>
            <a:ext cx="2002536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C62828"/>
                </a:solidFill>
                <a:latin typeface="Calibri"/>
              </a:defRPr>
            </a:pPr>
            <a:r>
              <a:t>CUSTOMER SEGMENTS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Patients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Doctors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Clinics (future)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Insurance (future)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Laboratories (future)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91840"/>
            <a:ext cx="2148840" cy="1280160"/>
          </a:xfrm>
          <a:prstGeom prst="roundRect">
            <a:avLst>
              <a:gd name="adj" fmla="val 3000"/>
            </a:avLst>
          </a:prstGeom>
          <a:solidFill>
            <a:srgbClr val="E0F7FA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3346704"/>
            <a:ext cx="20025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00695C"/>
                </a:solidFill>
                <a:latin typeface="Calibri"/>
              </a:defRPr>
            </a:pPr>
            <a:r>
              <a:t>KEY RESOURCES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Flutter app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Supabase backend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Dev team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Medical 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3291840"/>
            <a:ext cx="2148840" cy="1280160"/>
          </a:xfrm>
          <a:prstGeom prst="roundRect">
            <a:avLst>
              <a:gd name="adj" fmla="val 3000"/>
            </a:avLst>
          </a:prstGeom>
          <a:solidFill>
            <a:srgbClr val="FFF3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51192" y="3346704"/>
            <a:ext cx="20025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E65C00"/>
                </a:solidFill>
                <a:latin typeface="Calibri"/>
              </a:defRPr>
            </a:pPr>
            <a:r>
              <a:t>CHANNELS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App Stores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Social media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Clinic partnerships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Conferences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5486400" cy="1463040"/>
          </a:xfrm>
          <a:prstGeom prst="roundRect">
            <a:avLst>
              <a:gd name="adj" fmla="val 3000"/>
            </a:avLst>
          </a:prstGeom>
          <a:solidFill>
            <a:srgbClr val="FFEB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4718304"/>
            <a:ext cx="5340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C62828"/>
                </a:solidFill>
                <a:latin typeface="Calibri"/>
              </a:defRPr>
            </a:pPr>
            <a:r>
              <a:t>COST STRUCTURE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Dev team salaries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Supabase hosting &amp; storage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App Store fees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Marketing &amp; acquisition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Compliance (future HIPAA/GDPR)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663440"/>
            <a:ext cx="5486400" cy="146304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4718304"/>
            <a:ext cx="5340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2E7D32"/>
                </a:solidFill>
                <a:latin typeface="Calibri"/>
              </a:defRPr>
            </a:pPr>
            <a:r>
              <a:t>REVENUE STREAMS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Freemium patient plan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Doctor subscription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Clinic/Hospital license (B2B)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Telemedicine commission (future)</a:t>
            </a:r>
          </a:p>
          <a:p>
            <a:pPr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• Sponsored listings (future)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017520"/>
            <a:ext cx="12191695" cy="54864"/>
          </a:xfrm>
          <a:prstGeom prst="round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520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Aft>
                <a:spcPts val="0"/>
              </a:spcAft>
              <a:defRPr sz="2400" b="0">
                <a:solidFill>
                  <a:srgbClr val="90CAF9"/>
                </a:solidFill>
                <a:latin typeface="Calibri"/>
              </a:defRPr>
            </a:pPr>
            <a:r>
              <a:t>CareLink — Connecting Patients &amp; Doctors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0">
                <a:solidFill>
                  <a:srgbClr val="BBDEFB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