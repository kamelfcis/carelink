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183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9688"/>
                </a:solidFill>
                <a:latin typeface="Calibri"/>
              </a:defRPr>
            </a:pPr>
            <a:r>
              <a:t>CareLink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3774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33333"/>
                </a:solidFill>
                <a:latin typeface="Calibri"/>
              </a:defRPr>
            </a:pPr>
            <a:r>
              <a:t>A Smart Healthcare Mobile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200400"/>
            <a:ext cx="2103120" cy="50800"/>
          </a:xfrm>
          <a:prstGeom prst="rect">
            <a:avLst/>
          </a:prstGeom>
          <a:solidFill>
            <a:srgbClr val="7EC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56616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6D5B"/>
                </a:solidFill>
                <a:latin typeface="Calibri"/>
              </a:defRPr>
            </a:pPr>
            <a:r>
              <a:t>Graduation Project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29768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Supervised by: Dr. [Supervisor Name]</a:t>
            </a:r>
            <a:br/>
            <a:r>
              <a:t>Presented by: [Team Members]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EEDD"/>
                </a:solidFill>
                <a:latin typeface="Calibri"/>
              </a:defRPr>
            </a:pPr>
            <a:r>
              <a:t>Presentation Outline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4754880" cy="8229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0574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8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08483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971800"/>
            <a:ext cx="4754880" cy="8229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108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8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13639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023360"/>
            <a:ext cx="4754880" cy="8229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1605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8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18795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  <a:latin typeface="Calibri"/>
              </a:defRPr>
            </a:pPr>
            <a:r>
              <a:t>Related 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074919"/>
            <a:ext cx="4754880" cy="8229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21207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8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239511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  <a:latin typeface="Calibri"/>
              </a:defRPr>
            </a:pPr>
            <a:r>
              <a:t>Tools and Technologies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1920240"/>
            <a:ext cx="4754880" cy="8229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0574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8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08483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  <a:latin typeface="Calibri"/>
              </a:defRPr>
            </a:pPr>
            <a:r>
              <a:t>Requirements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2971800"/>
            <a:ext cx="4754880" cy="8229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3108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88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13639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  <a:latin typeface="Calibri"/>
              </a:defRPr>
            </a:pPr>
            <a:r>
              <a:t>UI / UX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4023360"/>
            <a:ext cx="4754880" cy="8229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41605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88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18795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  <a:latin typeface="Calibri"/>
              </a:defRPr>
            </a:pPr>
            <a:r>
              <a:t>Feature 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CareLink — Graduation Project 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CareLink is a smart, cross-platform healthcare mobile application built with Flutter.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It bridges the communication gap between patients and doctors through a unified digital platform.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Patients can manage their full medical history — medications, allergies, chronic conditions,</a:t>
            </a:r>
            <a:br/>
            <a:r>
              <a:t>   vaccinations, surgeries, and lab tests — all in one place.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Doctors can view their connected patients' records, add surgeries &amp; lab tests, and share</a:t>
            </a:r>
            <a:br/>
            <a:r>
              <a:t>   information via QR codes.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An AI-powered medical chatbot (Gemini 2.0 Flash) provides instant health guidance,</a:t>
            </a:r>
            <a:br/>
            <a:r>
              <a:t>   analyzes medical images, and answers medical inquiries 24/7.</a:t>
            </a:r>
          </a:p>
          <a:p>
            <a:pPr>
              <a:spcAft>
                <a:spcPts val="1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The app supports Arabic &amp; English with full localization and offers a modern, animated 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CareLink — Graduation Project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2. Project Objectives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874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Develop a mobile application that digitizes and centralizes patient medical records.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395728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44144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Enable secure doctor–patient connectivity where doctors can access shared medical records.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962656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00837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Integrate an AI-powered chatbot to provide medical guidance, image analysis, and voice input.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529584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57530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Support role-based access (Patient / Doctor) with distinct dashboards and features.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096512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1422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Implement secure authentication (Email/Password + Google Sign-In) via Supabase Auth.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66344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7091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Provide multilingual support (Arabic &amp; English) to serve a broader user base.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230368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27608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Allow doctors to add surgeries, upload lab test files, and generate QR codes for quick access.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797296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84301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Deliver a beautiful, responsive, and animated user interface with great UX.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CareLink — Graduation Project 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3. Related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2377440" cy="5029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3852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920240"/>
            <a:ext cx="2377440" cy="5029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93852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MyChart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920240"/>
            <a:ext cx="2377440" cy="5029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93852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Ada Health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0" y="1920240"/>
            <a:ext cx="2377440" cy="502920"/>
          </a:xfrm>
          <a:prstGeom prst="rect">
            <a:avLst/>
          </a:prstGeom>
          <a:solidFill>
            <a:srgbClr val="006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93852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CareLink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468880"/>
            <a:ext cx="2377440" cy="438912"/>
          </a:xfrm>
          <a:prstGeom prst="rect">
            <a:avLst/>
          </a:prstGeom>
          <a:solidFill>
            <a:srgbClr val="F5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14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Medical Records Mgmt.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2468880"/>
            <a:ext cx="2377440" cy="438912"/>
          </a:xfrm>
          <a:prstGeom prst="rect">
            <a:avLst/>
          </a:prstGeom>
          <a:solidFill>
            <a:srgbClr val="F5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514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9688"/>
                </a:solidFill>
                <a:latin typeface="Calibri"/>
              </a:defRPr>
            </a:pPr>
            <a:r>
              <a:t>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468880"/>
            <a:ext cx="2377440" cy="438912"/>
          </a:xfrm>
          <a:prstGeom prst="rect">
            <a:avLst/>
          </a:prstGeom>
          <a:solidFill>
            <a:srgbClr val="F5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2514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0000"/>
                </a:solidFill>
                <a:latin typeface="Calibri"/>
              </a:defRPr>
            </a:pPr>
            <a:r>
              <a:t>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5360" y="2468880"/>
            <a:ext cx="2377440" cy="438912"/>
          </a:xfrm>
          <a:prstGeom prst="rect">
            <a:avLst/>
          </a:prstGeom>
          <a:solidFill>
            <a:srgbClr val="F5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2514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9688"/>
                </a:solidFill>
                <a:latin typeface="Calibri"/>
              </a:defRPr>
            </a:pPr>
            <a:r>
              <a:t>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2926080"/>
            <a:ext cx="2377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971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AI Chatbot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2926080"/>
            <a:ext cx="2377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2971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0000"/>
                </a:solidFill>
                <a:latin typeface="Calibri"/>
              </a:defRPr>
            </a:pPr>
            <a:r>
              <a:t>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2926080"/>
            <a:ext cx="2377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971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9688"/>
                </a:solidFill>
                <a:latin typeface="Calibri"/>
              </a:defRPr>
            </a:pPr>
            <a:r>
              <a:t>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95360" y="2926080"/>
            <a:ext cx="2377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0" y="2971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9688"/>
                </a:solidFill>
                <a:latin typeface="Calibri"/>
              </a:defRPr>
            </a:pPr>
            <a:r>
              <a:t>✔ (Gemini 2.0)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3383280"/>
            <a:ext cx="2377440" cy="438912"/>
          </a:xfrm>
          <a:prstGeom prst="rect">
            <a:avLst/>
          </a:prstGeom>
          <a:solidFill>
            <a:srgbClr val="F5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429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Image Analysis (AI)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0" y="3383280"/>
            <a:ext cx="2377440" cy="438912"/>
          </a:xfrm>
          <a:prstGeom prst="rect">
            <a:avLst/>
          </a:prstGeom>
          <a:solidFill>
            <a:srgbClr val="F5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3429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0000"/>
                </a:solidFill>
                <a:latin typeface="Calibri"/>
              </a:defRPr>
            </a:pPr>
            <a:r>
              <a:t>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3383280"/>
            <a:ext cx="2377440" cy="438912"/>
          </a:xfrm>
          <a:prstGeom prst="rect">
            <a:avLst/>
          </a:prstGeom>
          <a:solidFill>
            <a:srgbClr val="F5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3429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0000"/>
                </a:solidFill>
                <a:latin typeface="Calibri"/>
              </a:defRPr>
            </a:pPr>
            <a:r>
              <a:t>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95360" y="3383280"/>
            <a:ext cx="2377440" cy="438912"/>
          </a:xfrm>
          <a:prstGeom prst="rect">
            <a:avLst/>
          </a:prstGeom>
          <a:solidFill>
            <a:srgbClr val="F5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0" y="3429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9688"/>
                </a:solidFill>
                <a:latin typeface="Calibri"/>
              </a:defRPr>
            </a:pPr>
            <a:r>
              <a:t>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3840480"/>
            <a:ext cx="2377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3886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Voice Input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74720" y="3840480"/>
            <a:ext cx="2377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0" y="3886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0000"/>
                </a:solidFill>
                <a:latin typeface="Calibri"/>
              </a:defRPr>
            </a:pPr>
            <a:r>
              <a:t>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3840480"/>
            <a:ext cx="2377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40" y="3886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9688"/>
                </a:solidFill>
                <a:latin typeface="Calibri"/>
              </a:defRPr>
            </a:pPr>
            <a:r>
              <a:t>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3840480"/>
            <a:ext cx="2377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5360" y="3886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9688"/>
                </a:solidFill>
                <a:latin typeface="Calibri"/>
              </a:defRPr>
            </a:pPr>
            <a:r>
              <a:t>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" y="4297680"/>
            <a:ext cx="2377440" cy="438912"/>
          </a:xfrm>
          <a:prstGeom prst="rect">
            <a:avLst/>
          </a:prstGeom>
          <a:solidFill>
            <a:srgbClr val="F5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4343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Doctor–Patient Link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0" y="4297680"/>
            <a:ext cx="2377440" cy="438912"/>
          </a:xfrm>
          <a:prstGeom prst="rect">
            <a:avLst/>
          </a:prstGeom>
          <a:solidFill>
            <a:srgbClr val="F5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4720" y="4343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9688"/>
                </a:solidFill>
                <a:latin typeface="Calibri"/>
              </a:defRPr>
            </a:pPr>
            <a:r>
              <a:t>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0" y="4297680"/>
            <a:ext cx="2377440" cy="438912"/>
          </a:xfrm>
          <a:prstGeom prst="rect">
            <a:avLst/>
          </a:prstGeom>
          <a:solidFill>
            <a:srgbClr val="F5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35040" y="4343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0000"/>
                </a:solidFill>
                <a:latin typeface="Calibri"/>
              </a:defRPr>
            </a:pPr>
            <a:r>
              <a:t>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95360" y="4297680"/>
            <a:ext cx="2377440" cy="438912"/>
          </a:xfrm>
          <a:prstGeom prst="rect">
            <a:avLst/>
          </a:prstGeom>
          <a:solidFill>
            <a:srgbClr val="F5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4343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9688"/>
                </a:solidFill>
                <a:latin typeface="Calibri"/>
              </a:defRPr>
            </a:pPr>
            <a:r>
              <a:t>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" y="4754880"/>
            <a:ext cx="2377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" y="4800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QR Code Sharing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74720" y="4754880"/>
            <a:ext cx="2377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74720" y="4800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0000"/>
                </a:solidFill>
                <a:latin typeface="Calibri"/>
              </a:defRPr>
            </a:pPr>
            <a:r>
              <a:t>✘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35040" y="4754880"/>
            <a:ext cx="2377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35040" y="4800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0000"/>
                </a:solidFill>
                <a:latin typeface="Calibri"/>
              </a:defRPr>
            </a:pPr>
            <a:r>
              <a:t>✘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595360" y="4754880"/>
            <a:ext cx="2377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95360" y="4800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9688"/>
                </a:solidFill>
                <a:latin typeface="Calibri"/>
              </a:defRPr>
            </a:pPr>
            <a:r>
              <a:t>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5212080"/>
            <a:ext cx="2377440" cy="438912"/>
          </a:xfrm>
          <a:prstGeom prst="rect">
            <a:avLst/>
          </a:prstGeom>
          <a:solidFill>
            <a:srgbClr val="F5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4400" y="5257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Multilingual (AR/EN)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74720" y="5212080"/>
            <a:ext cx="2377440" cy="438912"/>
          </a:xfrm>
          <a:prstGeom prst="rect">
            <a:avLst/>
          </a:prstGeom>
          <a:solidFill>
            <a:srgbClr val="F5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474720" y="5257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0000"/>
                </a:solidFill>
                <a:latin typeface="Calibri"/>
              </a:defRPr>
            </a:pPr>
            <a:r>
              <a:t>✘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40" y="5212080"/>
            <a:ext cx="2377440" cy="438912"/>
          </a:xfrm>
          <a:prstGeom prst="rect">
            <a:avLst/>
          </a:prstGeom>
          <a:solidFill>
            <a:srgbClr val="F5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035040" y="5257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0000"/>
                </a:solidFill>
                <a:latin typeface="Calibri"/>
              </a:defRPr>
            </a:pPr>
            <a:r>
              <a:t>✘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95360" y="5212080"/>
            <a:ext cx="2377440" cy="438912"/>
          </a:xfrm>
          <a:prstGeom prst="rect">
            <a:avLst/>
          </a:prstGeom>
          <a:solidFill>
            <a:srgbClr val="F5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95360" y="5257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9688"/>
                </a:solidFill>
                <a:latin typeface="Calibri"/>
              </a:defRPr>
            </a:pPr>
            <a:r>
              <a:t>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14400" y="5669280"/>
            <a:ext cx="2377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4400" y="5715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Cross-platform Flutter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474720" y="5669280"/>
            <a:ext cx="2377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474720" y="5715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0000"/>
                </a:solidFill>
                <a:latin typeface="Calibri"/>
              </a:defRPr>
            </a:pPr>
            <a:r>
              <a:t>✘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35040" y="5669280"/>
            <a:ext cx="2377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035040" y="5715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0000"/>
                </a:solidFill>
                <a:latin typeface="Calibri"/>
              </a:defRPr>
            </a:pPr>
            <a:r>
              <a:t>✘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595360" y="5669280"/>
            <a:ext cx="2377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595360" y="5715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9688"/>
                </a:solidFill>
                <a:latin typeface="Calibri"/>
              </a:defRPr>
            </a:pPr>
            <a:r>
              <a:t>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CareLink — Graduation Project 2025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4. Tools and Technologies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29200" cy="20116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88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Flutter (Dart) — Cross-platform mobile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6148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flutter_bloc — State management (Cubit pattern)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4553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flutter_animate / Lottie — Animations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029200" cy="20116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88"/>
                </a:solidFill>
                <a:latin typeface="Calibri"/>
              </a:defRPr>
            </a:pPr>
            <a:r>
              <a:t>Backend &amp;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77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Supabase — Auth, PostgreSQL database, Storage, Realtime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76148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Row Level Security (RLS) for data protection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14553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Supabase Storage — File uploads (lab tests, avatars)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5029200" cy="20116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160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88"/>
                </a:solidFill>
                <a:latin typeface="Calibri"/>
              </a:defRPr>
            </a:pPr>
            <a:r>
              <a:t>AI &amp;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720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Google Gemini 2.0 Flash — AI Chatbot &amp; image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95604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Speech-to-Text — Voice input for chatbot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023360"/>
            <a:ext cx="5029200" cy="20116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160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88"/>
                </a:solidFill>
                <a:latin typeface="Calibri"/>
              </a:defRPr>
            </a:pPr>
            <a:r>
              <a:t>Other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5720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Google Sign-In — OAuth 2.0 social login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95604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QR Flutter — QR code generation &amp; sharing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34009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GetIt — Dependency injection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72414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Intl — Internationalization (Arabic / English)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CareLink — Graduation Project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5.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88"/>
                </a:solidFill>
                <a:latin typeface="Calibri"/>
              </a:defRPr>
            </a:pPr>
            <a:r>
              <a:t>Functional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User registration &amp; login (Email + Google OAuth)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877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Role selection: Patient or Doctor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2666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Patient: manage medications, allergies, chronic conditions, vaccinations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6557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Patient: view surgeries, lab tests, connect with doctors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04487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Doctor: view patients, add surgeries &amp; lab tests, QR sharing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43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AI Chatbot: text &amp; voice queries, medical image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823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Settings: profile editing, language switch, privacy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88"/>
                </a:solidFill>
                <a:latin typeface="Calibri"/>
              </a:defRPr>
            </a:pPr>
            <a:r>
              <a:t>Non-Functional Requirements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48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Performance: fast loading, smooth animations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877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Security: Supabase Auth, RLS, secure token 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02666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Usability: intuitive UI, responsive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46557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Scalability: modular architecture, clean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904487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Localization: full Arabic &amp; English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343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Reliability: error handling, offline caching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7823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Cross-platform: Android &amp; iOS from single codebase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1828800"/>
            <a:ext cx="25400" cy="4114800"/>
          </a:xfrm>
          <a:prstGeom prst="rect">
            <a:avLst/>
          </a:prstGeom>
          <a:solidFill>
            <a:srgbClr val="7EC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CareLink — Graduation Project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6. UI / UX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3566160" cy="21031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88"/>
                </a:solidFill>
                <a:latin typeface="Calibri"/>
              </a:defRPr>
            </a:pPr>
            <a:r>
              <a:t>Modern Material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Clean cards, rounded corners, gradient headers, and elevation shadows</a:t>
            </a:r>
            <a:br/>
            <a:r>
              <a:t>for a polished healthcare feel.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737360"/>
            <a:ext cx="3566160" cy="21031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88"/>
                </a:solidFill>
                <a:latin typeface="Calibri"/>
              </a:defRPr>
            </a:pPr>
            <a:r>
              <a:t>Smooth Animations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4231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Flutter Animate &amp; Lottie animations for onboarding, loading,</a:t>
            </a:r>
            <a:br/>
            <a:r>
              <a:t>and transitions that delight users.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737360"/>
            <a:ext cx="3566160" cy="21031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88"/>
                </a:solidFill>
                <a:latin typeface="Calibri"/>
              </a:defRPr>
            </a:pPr>
            <a:r>
              <a:t>Responsive Layout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4231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SizeConfig utility ensures perfect scaling across all screen sizes</a:t>
            </a:r>
            <a:br/>
            <a:r>
              <a:t>and orientations.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06240"/>
            <a:ext cx="3566160" cy="21031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389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88"/>
                </a:solidFill>
                <a:latin typeface="Calibri"/>
              </a:defRPr>
            </a:pPr>
            <a:r>
              <a:t>Intuitive Navigation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920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Bottom navigation, floating action buttons (AI chatbot),</a:t>
            </a:r>
            <a:br/>
            <a:r>
              <a:t>and clear screen hierarchy.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4206240"/>
            <a:ext cx="3566160" cy="21031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389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88"/>
                </a:solidFill>
                <a:latin typeface="Calibri"/>
              </a:defRPr>
            </a:pPr>
            <a:r>
              <a:t>Accessibility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8920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Large touch targets, high contrast text, and clear visual</a:t>
            </a:r>
            <a:br/>
            <a:r>
              <a:t>hierarchy for all users.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4206240"/>
            <a:ext cx="3566160" cy="21031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4389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88"/>
                </a:solidFill>
                <a:latin typeface="Calibri"/>
              </a:defRPr>
            </a:pPr>
            <a:r>
              <a:t>Bilingual 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8920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Seamless RTL ↔ LTR switching for Arabic and English</a:t>
            </a:r>
            <a:br/>
            <a:r>
              <a:t>with consistent layouts.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CareLink — Graduation Project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7. Feature Work — Patient Side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2651760" cy="21031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  <a:latin typeface="Calibri"/>
              </a:defRPr>
            </a:pPr>
            <a:r>
              <a:t>🏠 Home Screen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231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Browse &amp; search available doctors</a:t>
            </a:r>
            <a:br/>
            <a:r>
              <a:t>Filter by specialty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737360"/>
            <a:ext cx="2651760" cy="21031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  <a:latin typeface="Calibri"/>
              </a:defRPr>
            </a:pPr>
            <a:r>
              <a:t>💊 Medications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4231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Add, view &amp; delete medications</a:t>
            </a:r>
            <a:br/>
            <a:r>
              <a:t>Dosage, frequency, dates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2651760" cy="21031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  <a:latin typeface="Calibri"/>
              </a:defRPr>
            </a:pPr>
            <a:r>
              <a:t>🦠 Allergies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4231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Track allergy name &amp; severity</a:t>
            </a:r>
            <a:br/>
            <a:r>
              <a:t>With notes for details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1737360"/>
            <a:ext cx="2651760" cy="21031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  <a:latin typeface="Calibri"/>
              </a:defRPr>
            </a:pPr>
            <a:r>
              <a:t>🫀 Chronic Conditions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4231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Record chronic diseases</a:t>
            </a:r>
            <a:br/>
            <a:r>
              <a:t>Manage condition history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06240"/>
            <a:ext cx="2651760" cy="21031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389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  <a:latin typeface="Calibri"/>
              </a:defRPr>
            </a:pPr>
            <a:r>
              <a:t>💉 Vaccinations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89204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Log vaccination records</a:t>
            </a:r>
            <a:br/>
            <a:r>
              <a:t>Track dates &amp; notes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4206240"/>
            <a:ext cx="2651760" cy="21031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4389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  <a:latin typeface="Calibri"/>
              </a:defRPr>
            </a:pPr>
            <a:r>
              <a:t>🏥 Surgeries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89204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View surgery history</a:t>
            </a:r>
            <a:br/>
            <a:r>
              <a:t>Added by connected doctors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206240"/>
            <a:ext cx="2651760" cy="21031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389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  <a:latin typeface="Calibri"/>
              </a:defRPr>
            </a:pPr>
            <a:r>
              <a:t>🧪 Lab 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89204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View lab test results</a:t>
            </a:r>
            <a:br/>
            <a:r>
              <a:t>File attachments supported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20" y="4206240"/>
            <a:ext cx="2651760" cy="21031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4389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  <a:latin typeface="Calibri"/>
              </a:defRPr>
            </a:pPr>
            <a:r>
              <a:t>👨‍⚕️ Doctor Connection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489204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View doctor profiles</a:t>
            </a:r>
            <a:br/>
            <a:r>
              <a:t>Connect via the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CareLink — Graduation Project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9 /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7. Feature Work — Doctor Side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3566160" cy="21031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88"/>
                </a:solidFill>
                <a:latin typeface="Calibri"/>
              </a:defRPr>
            </a:pPr>
            <a:r>
              <a:t>👥 My Patients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View all connected patients</a:t>
            </a:r>
            <a:br/>
            <a:r>
              <a:t>Search &amp; filter patient 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737360"/>
            <a:ext cx="3566160" cy="21031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88"/>
                </a:solidFill>
                <a:latin typeface="Calibri"/>
              </a:defRPr>
            </a:pPr>
            <a:r>
              <a:t>📋 Patient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4231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Access full medical records</a:t>
            </a:r>
            <a:br/>
            <a:r>
              <a:t>Medications, allergies, conditions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737360"/>
            <a:ext cx="3566160" cy="21031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88"/>
                </a:solidFill>
                <a:latin typeface="Calibri"/>
              </a:defRPr>
            </a:pPr>
            <a:r>
              <a:t>🔬 Add Lab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4231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Upload lab test files</a:t>
            </a:r>
            <a:br/>
            <a:r>
              <a:t>Specify test name, date, notes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06240"/>
            <a:ext cx="3566160" cy="21031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389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88"/>
                </a:solidFill>
                <a:latin typeface="Calibri"/>
              </a:defRPr>
            </a:pPr>
            <a:r>
              <a:t>🏥 Add Surgeries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920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Record surgical procedures</a:t>
            </a:r>
            <a:br/>
            <a:r>
              <a:t>Operation name, date, details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4206240"/>
            <a:ext cx="3566160" cy="21031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389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88"/>
                </a:solidFill>
                <a:latin typeface="Calibri"/>
              </a:defRPr>
            </a:pPr>
            <a:r>
              <a:t>📱 Contact Patient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8920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Direct phone call</a:t>
            </a:r>
            <a:br/>
            <a:r>
              <a:t>WhatsApp messaging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4206240"/>
            <a:ext cx="3566160" cy="21031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4389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88"/>
                </a:solidFill>
                <a:latin typeface="Calibri"/>
              </a:defRPr>
            </a:pPr>
            <a:r>
              <a:t>📊 QR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8920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Generate shareable QR codes</a:t>
            </a:r>
            <a:br/>
            <a:r>
              <a:t>Quick access to patient info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CareLink — Graduation Project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10 /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7. Feature Work — AI Chatbot &amp; Shared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303520" cy="4572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88"/>
                </a:solidFill>
                <a:latin typeface="Calibri"/>
              </a:defRPr>
            </a:pPr>
            <a:r>
              <a:t>🤖 CareLink AI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✦  Powered by Google Gemini 2.0 Flash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529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✦  Answers medical inquiries in clear, simple 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3697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✦  Analyzes medical images (lab results, X-rays, MRI, prescriptions)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2102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✦  Voice input via Speech-to-Text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050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✦  Smart suggestion chips for quick queries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✦  Persistent chat sessions with reset capability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731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✦  Professional, empathetic tone with safety guidelines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15721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✦  Redirects non-medical questions &amp; recommends doctors when needed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37360"/>
            <a:ext cx="5303520" cy="4572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88"/>
                </a:solidFill>
                <a:latin typeface="Calibri"/>
              </a:defRPr>
            </a:pPr>
            <a:r>
              <a:t>⚙️ Shared / System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✦  Onboarding screens with smooth animations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8529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✦  Role-based sign-up (Patient / Doctor)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23697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✦  Google Sign-In (OAuth 2.0)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62102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✦  Forgot Password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0050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✦  Profile management with avatar upload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✦  Settings: language switch, privacy, about, rate 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7731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✦  Local data caching for offline 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15721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✦  Responsive design across all devices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CareLink — Graduation Project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11 / 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291840"/>
            <a:ext cx="2103120" cy="50800"/>
          </a:xfrm>
          <a:prstGeom prst="rect">
            <a:avLst/>
          </a:prstGeom>
          <a:solidFill>
            <a:srgbClr val="7EC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CCEEDD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DDCC"/>
                </a:solidFill>
                <a:latin typeface="Calibri"/>
              </a:defRPr>
            </a:pPr>
            <a:r>
              <a:t>CareLink — Graduation Project 2025</a:t>
            </a:r>
            <a:br/>
            <a:r>
              <a:t>Built with Flutter • Supabase • Gemini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12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